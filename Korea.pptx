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90B568F3-1FE8-46C7-8E57-2DCBA5C2FB8C}">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6" d="100"/>
          <a:sy n="106" d="100"/>
        </p:scale>
        <p:origin x="176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ru-RU"/>
              <a:t>Образец заголовка</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ru-RU"/>
              <a:t>Образец подзаголовка</a:t>
            </a:r>
            <a:endParaRPr kumimoji="0" lang="en-US"/>
          </a:p>
        </p:txBody>
      </p:sp>
      <p:sp>
        <p:nvSpPr>
          <p:cNvPr id="30" name="Date Placeholder 29"/>
          <p:cNvSpPr>
            <a:spLocks noGrp="1"/>
          </p:cNvSpPr>
          <p:nvPr>
            <p:ph type="dt" sz="half" idx="10"/>
          </p:nvPr>
        </p:nvSpPr>
        <p:spPr/>
        <p:txBody>
          <a:bodyPr/>
          <a:lstStyle/>
          <a:p>
            <a:fld id="{B4C71EC6-210F-42DE-9C53-41977AD35B3D}" type="datetimeFigureOut">
              <a:rPr lang="ru-RU" smtClean="0"/>
              <a:t>27.11.2023</a:t>
            </a:fld>
            <a:endParaRPr lang="ru-RU"/>
          </a:p>
        </p:txBody>
      </p:sp>
      <p:sp>
        <p:nvSpPr>
          <p:cNvPr id="19" name="Footer Placeholder 18"/>
          <p:cNvSpPr>
            <a:spLocks noGrp="1"/>
          </p:cNvSpPr>
          <p:nvPr>
            <p:ph type="ftr" sz="quarter" idx="11"/>
          </p:nvPr>
        </p:nvSpPr>
        <p:spPr/>
        <p:txBody>
          <a:bodyPr/>
          <a:lstStyle/>
          <a:p>
            <a:endParaRPr lang="ru-RU"/>
          </a:p>
        </p:txBody>
      </p:sp>
      <p:sp>
        <p:nvSpPr>
          <p:cNvPr id="27" name="Slide Number Placeholder 26"/>
          <p:cNvSpPr>
            <a:spLocks noGrp="1"/>
          </p:cNvSpPr>
          <p:nvPr>
            <p:ph type="sldNum" sz="quarter" idx="12"/>
          </p:nvPr>
        </p:nvSpPr>
        <p:spPr/>
        <p:txBody>
          <a:bodyPr/>
          <a:lstStyle/>
          <a:p>
            <a:fld id="{B19B0651-EE4F-4900-A07F-96A6BFA9D0F0}" type="slidenum">
              <a:rPr lang="ru-RU" smtClean="0"/>
              <a:t>‹#›</a:t>
            </a:fld>
            <a:endParaRPr lang="ru-RU"/>
          </a:p>
        </p:txBody>
      </p:sp>
    </p:spTree>
  </p:cSld>
  <p:clrMapOvr>
    <a:overrideClrMapping bg1="dk1" tx1="lt1" bg2="dk2" tx2="lt2" accent1="accent1" accent2="accent2" accent3="accent3" accent4="accent4" accent5="accent5" accent6="accent6" hlink="hlink" folHlink="folHlink"/>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ru-RU"/>
              <a:t>Образец заголовка</a:t>
            </a:r>
            <a:endParaRPr kumimoji="0" lang="en-US"/>
          </a:p>
        </p:txBody>
      </p:sp>
      <p:sp>
        <p:nvSpPr>
          <p:cNvPr id="3" name="Content Placeholder 2"/>
          <p:cNvSpPr>
            <a:spLocks noGrp="1"/>
          </p:cNvSpPr>
          <p:nvPr>
            <p:ph idx="1"/>
          </p:nvPr>
        </p:nvSpPr>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Date Placeholder 3"/>
          <p:cNvSpPr>
            <a:spLocks noGrp="1"/>
          </p:cNvSpPr>
          <p:nvPr>
            <p:ph type="dt" sz="half" idx="10"/>
          </p:nvPr>
        </p:nvSpPr>
        <p:spPr/>
        <p:txBody>
          <a:bodyPr/>
          <a:lstStyle/>
          <a:p>
            <a:fld id="{B4C71EC6-210F-42DE-9C53-41977AD35B3D}" type="datetimeFigureOut">
              <a:rPr lang="ru-RU" smtClean="0"/>
              <a:t>27.11.2023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ru-RU"/>
              <a:t>Образец заголовка</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ru-RU"/>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27.11.2023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overrideClrMapping bg1="dk1" tx1="lt1" bg2="dk2" tx2="lt2" accent1="accent1" accent2="accent2" accent3="accent3" accent4="accent4" accent5="accent5" accent6="accent6" hlink="hlink" folHlink="folHlink"/>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ru-RU"/>
              <a:t>Образец заголовка</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5" name="Date Placeholder 4"/>
          <p:cNvSpPr>
            <a:spLocks noGrp="1"/>
          </p:cNvSpPr>
          <p:nvPr>
            <p:ph type="dt" sz="half" idx="10"/>
          </p:nvPr>
        </p:nvSpPr>
        <p:spPr/>
        <p:txBody>
          <a:bodyPr/>
          <a:lstStyle/>
          <a:p>
            <a:fld id="{B4C71EC6-210F-42DE-9C53-41977AD35B3D}" type="datetimeFigureOut">
              <a:rPr lang="ru-RU" smtClean="0"/>
              <a:t>27.11.2023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ru-RU"/>
              <a:t>Образец заголовка</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ru-RU"/>
              <a:t>Образец текста</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ru-RU"/>
              <a:t>Образец текста</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7" name="Date Placeholder 6"/>
          <p:cNvSpPr>
            <a:spLocks noGrp="1"/>
          </p:cNvSpPr>
          <p:nvPr>
            <p:ph type="dt" sz="half" idx="10"/>
          </p:nvPr>
        </p:nvSpPr>
        <p:spPr/>
        <p:txBody>
          <a:bodyPr/>
          <a:lstStyle/>
          <a:p>
            <a:fld id="{B4C71EC6-210F-42DE-9C53-41977AD35B3D}" type="datetimeFigureOut">
              <a:rPr lang="ru-RU" smtClean="0"/>
              <a:t>27.11.2023</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ru-RU"/>
              <a:t>Образец заголовка</a:t>
            </a:r>
            <a:endParaRPr kumimoji="0" lang="en-US"/>
          </a:p>
        </p:txBody>
      </p:sp>
      <p:sp>
        <p:nvSpPr>
          <p:cNvPr id="3" name="Date Placeholder 2"/>
          <p:cNvSpPr>
            <a:spLocks noGrp="1"/>
          </p:cNvSpPr>
          <p:nvPr>
            <p:ph type="dt" sz="half" idx="10"/>
          </p:nvPr>
        </p:nvSpPr>
        <p:spPr/>
        <p:txBody>
          <a:bodyPr/>
          <a:lstStyle/>
          <a:p>
            <a:fld id="{B4C71EC6-210F-42DE-9C53-41977AD35B3D}" type="datetimeFigureOut">
              <a:rPr lang="ru-RU" smtClean="0"/>
              <a:t>27.11.2023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C71EC6-210F-42DE-9C53-41977AD35B3D}" type="datetimeFigureOut">
              <a:rPr lang="ru-RU" smtClean="0"/>
              <a:t>27.11.2023</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ru-RU"/>
              <a:t>Образец заголовка</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ru-RU"/>
              <a:t>Образец текста</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5" name="Date Placeholder 4"/>
          <p:cNvSpPr>
            <a:spLocks noGrp="1"/>
          </p:cNvSpPr>
          <p:nvPr>
            <p:ph type="dt" sz="half" idx="10"/>
          </p:nvPr>
        </p:nvSpPr>
        <p:spPr/>
        <p:txBody>
          <a:bodyPr/>
          <a:lstStyle/>
          <a:p>
            <a:fld id="{B4C71EC6-210F-42DE-9C53-41977AD35B3D}" type="datetimeFigureOut">
              <a:rPr lang="ru-RU" smtClean="0"/>
              <a:t>27.11.2023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ru-RU"/>
              <a:t>Образец заголовка</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ru-RU"/>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27.11.2023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a:xfrm>
            <a:off x="8077200" y="6356350"/>
            <a:ext cx="609600" cy="365125"/>
          </a:xfrm>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ru-RU"/>
              <a:t>Вставка рисунка</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ru-RU"/>
              <a:t>Образец заголовка</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Date Placeholder 3"/>
          <p:cNvSpPr>
            <a:spLocks noGrp="1"/>
          </p:cNvSpPr>
          <p:nvPr>
            <p:ph type="dt" sz="half" idx="10"/>
          </p:nvPr>
        </p:nvSpPr>
        <p:spPr/>
        <p:txBody>
          <a:bodyPr/>
          <a:lstStyle/>
          <a:p>
            <a:fld id="{B4C71EC6-210F-42DE-9C53-41977AD35B3D}" type="datetimeFigureOut">
              <a:rPr lang="ru-RU" smtClean="0"/>
              <a:t>27.11.2023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ru-RU"/>
              <a:t>Образец заголовка</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Date Placeholder 3"/>
          <p:cNvSpPr>
            <a:spLocks noGrp="1"/>
          </p:cNvSpPr>
          <p:nvPr>
            <p:ph type="dt" sz="half" idx="10"/>
          </p:nvPr>
        </p:nvSpPr>
        <p:spPr/>
        <p:txBody>
          <a:bodyPr/>
          <a:lstStyle/>
          <a:p>
            <a:fld id="{B4C71EC6-210F-42DE-9C53-41977AD35B3D}" type="datetimeFigureOut">
              <a:rPr lang="ru-RU" smtClean="0"/>
              <a:t>27.11.2023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ru-RU"/>
              <a:t>Образец заголовка</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ru-RU"/>
              <a:t>Образец текста</a:t>
            </a:r>
          </a:p>
          <a:p>
            <a:pPr lvl="1" eaLnBrk="1" latinLnBrk="0" hangingPunct="1"/>
            <a:r>
              <a:rPr kumimoji="0" lang="ru-RU"/>
              <a:t>Второй уровень</a:t>
            </a:r>
          </a:p>
          <a:p>
            <a:pPr lvl="2" eaLnBrk="1" latinLnBrk="0" hangingPunct="1"/>
            <a:r>
              <a:rPr kumimoji="0" lang="ru-RU"/>
              <a:t>Третий уровень</a:t>
            </a:r>
          </a:p>
          <a:p>
            <a:pPr lvl="3" eaLnBrk="1" latinLnBrk="0" hangingPunct="1"/>
            <a:r>
              <a:rPr kumimoji="0" lang="ru-RU"/>
              <a:t>Четвертый уровень</a:t>
            </a:r>
          </a:p>
          <a:p>
            <a:pPr lvl="4" eaLnBrk="1" latinLnBrk="0" hangingPunct="1"/>
            <a:r>
              <a:rPr kumimoji="0" lang="ru-RU"/>
              <a:t>Пятый уровень</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B4C71EC6-210F-42DE-9C53-41977AD35B3D}" type="datetimeFigureOut">
              <a:rPr lang="ru-RU" smtClean="0"/>
              <a:t>27.11.2023</a:t>
            </a:fld>
            <a:endParaRPr lang="ru-RU"/>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ru-RU"/>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19B0651-EE4F-4900-A07F-96A6BFA9D0F0}" type="slidenum">
              <a:rPr lang="ru-RU" smtClean="0"/>
              <a:t>‹#›</a:t>
            </a:fld>
            <a:endParaRPr lang="ru-RU"/>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cover/>
  </p:transition>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 Id="rId5" Type="http://schemas.openxmlformats.org/officeDocument/2006/relationships/image" Target="../media/image6.jp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467544" y="116632"/>
            <a:ext cx="6888668" cy="2088232"/>
          </a:xfrm>
        </p:spPr>
        <p:txBody>
          <a:bodyPr/>
          <a:lstStyle/>
          <a:p>
            <a:pPr algn="l"/>
            <a:r>
              <a:rPr lang="en-US" dirty="0"/>
              <a:t>The Korean national cuisine</a:t>
            </a:r>
            <a:endParaRPr lang="ru-RU" dirty="0"/>
          </a:p>
        </p:txBody>
      </p:sp>
      <p:sp>
        <p:nvSpPr>
          <p:cNvPr id="3" name="Подзаголовок 2"/>
          <p:cNvSpPr>
            <a:spLocks noGrp="1"/>
          </p:cNvSpPr>
          <p:nvPr>
            <p:ph type="subTitle" idx="1"/>
          </p:nvPr>
        </p:nvSpPr>
        <p:spPr>
          <a:xfrm>
            <a:off x="107504" y="4225398"/>
            <a:ext cx="5208656" cy="2304256"/>
          </a:xfrm>
        </p:spPr>
        <p:txBody>
          <a:bodyPr/>
          <a:lstStyle/>
          <a:p>
            <a:pPr algn="l"/>
            <a:endParaRPr lang="ru-RU" dirty="0"/>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4088" y="1700808"/>
            <a:ext cx="3366120" cy="4905164"/>
          </a:xfrm>
          <a:prstGeom prst="rect">
            <a:avLst/>
          </a:prstGeom>
          <a:ln w="6350">
            <a:solidFill>
              <a:schemeClr val="tx1"/>
            </a:solidFill>
          </a:ln>
        </p:spPr>
      </p:pic>
    </p:spTree>
    <p:extLst>
      <p:ext uri="{BB962C8B-B14F-4D97-AF65-F5344CB8AC3E}">
        <p14:creationId xmlns:p14="http://schemas.microsoft.com/office/powerpoint/2010/main" val="2348332651"/>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67544" y="0"/>
            <a:ext cx="8229600" cy="1143000"/>
          </a:xfrm>
        </p:spPr>
        <p:txBody>
          <a:bodyPr>
            <a:normAutofit/>
          </a:bodyPr>
          <a:lstStyle/>
          <a:p>
            <a:r>
              <a:rPr lang="en-US" dirty="0"/>
              <a:t>History</a:t>
            </a:r>
            <a:endParaRPr lang="ru-RU" dirty="0"/>
          </a:p>
        </p:txBody>
      </p:sp>
      <p:sp>
        <p:nvSpPr>
          <p:cNvPr id="2" name="Объект 1"/>
          <p:cNvSpPr>
            <a:spLocks noGrp="1"/>
          </p:cNvSpPr>
          <p:nvPr>
            <p:ph sz="half" idx="1"/>
          </p:nvPr>
        </p:nvSpPr>
        <p:spPr>
          <a:xfrm>
            <a:off x="179512" y="1340768"/>
            <a:ext cx="4968552" cy="5014157"/>
          </a:xfrm>
        </p:spPr>
        <p:txBody>
          <a:bodyPr>
            <a:normAutofit/>
          </a:bodyPr>
          <a:lstStyle/>
          <a:p>
            <a:pPr marL="0" indent="0" algn="ctr">
              <a:buNone/>
            </a:pPr>
            <a:r>
              <a:rPr lang="en-US" sz="2800" dirty="0"/>
              <a:t>Korean cuisine in the form in which it is now, finally formed during the war with Japan</a:t>
            </a:r>
            <a:r>
              <a:rPr lang="ru-RU" sz="2800" dirty="0"/>
              <a:t>.</a:t>
            </a:r>
            <a:r>
              <a:rPr lang="en-US" sz="2800" dirty="0"/>
              <a:t> The Japanese brought new fruits and vegetables to Korea, the main one being red pepper. It is thanks to him that most Korean dishes can be described as "hot and spicy".</a:t>
            </a:r>
            <a:endParaRPr lang="ru-RU" sz="2800" dirty="0"/>
          </a:p>
        </p:txBody>
      </p:sp>
      <p:pic>
        <p:nvPicPr>
          <p:cNvPr id="5" name="Объект 4"/>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5364062" y="1268760"/>
            <a:ext cx="3437341" cy="5156955"/>
          </a:xfrm>
          <a:ln w="6350">
            <a:solidFill>
              <a:schemeClr val="tx1"/>
            </a:solidFill>
          </a:ln>
        </p:spPr>
      </p:pic>
    </p:spTree>
    <p:extLst>
      <p:ext uri="{BB962C8B-B14F-4D97-AF65-F5344CB8AC3E}">
        <p14:creationId xmlns:p14="http://schemas.microsoft.com/office/powerpoint/2010/main" val="1141968797"/>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75021" y="-63852"/>
            <a:ext cx="8229600" cy="866360"/>
          </a:xfrm>
        </p:spPr>
        <p:txBody>
          <a:bodyPr/>
          <a:lstStyle/>
          <a:p>
            <a:r>
              <a:rPr lang="en-US" dirty="0"/>
              <a:t>Difference</a:t>
            </a:r>
            <a:endParaRPr lang="ru-RU" dirty="0"/>
          </a:p>
        </p:txBody>
      </p:sp>
      <p:sp>
        <p:nvSpPr>
          <p:cNvPr id="2" name="Объект 1"/>
          <p:cNvSpPr>
            <a:spLocks noGrp="1"/>
          </p:cNvSpPr>
          <p:nvPr>
            <p:ph idx="1"/>
          </p:nvPr>
        </p:nvSpPr>
        <p:spPr>
          <a:xfrm>
            <a:off x="107504" y="978059"/>
            <a:ext cx="4032448" cy="5655207"/>
          </a:xfrm>
        </p:spPr>
        <p:txBody>
          <a:bodyPr>
            <a:normAutofit/>
          </a:bodyPr>
          <a:lstStyle/>
          <a:p>
            <a:pPr marL="0" indent="0">
              <a:buNone/>
            </a:pPr>
            <a:r>
              <a:rPr lang="en-US" dirty="0"/>
              <a:t>Korean cuisine has a wide variety of fermented and fermented foods: vegetables, roots, fish and seafood. An important element are flavoring additives - red and black pepper, soy sauce, sesame oil. For foreigners, many dishes seem burning, but you can not show their discontent. Because it would be considered disrespectful.</a:t>
            </a:r>
            <a:endParaRPr lang="ru-RU" dirty="0"/>
          </a:p>
        </p:txBody>
      </p:sp>
      <p:pic>
        <p:nvPicPr>
          <p:cNvPr id="4" name="Рисунок 3"/>
          <p:cNvPicPr>
            <a:picLocks noChangeAspect="1"/>
          </p:cNvPicPr>
          <p:nvPr/>
        </p:nvPicPr>
        <p:blipFill rotWithShape="1">
          <a:blip r:embed="rId2">
            <a:extLst>
              <a:ext uri="{28A0092B-C50C-407E-A947-70E740481C1C}">
                <a14:useLocalDpi xmlns:a14="http://schemas.microsoft.com/office/drawing/2010/main" val="0"/>
              </a:ext>
            </a:extLst>
          </a:blip>
          <a:srcRect t="19759" b="16925"/>
          <a:stretch/>
        </p:blipFill>
        <p:spPr>
          <a:xfrm>
            <a:off x="5865195" y="1196751"/>
            <a:ext cx="3080940" cy="2991775"/>
          </a:xfrm>
          <a:prstGeom prst="rect">
            <a:avLst/>
          </a:prstGeom>
        </p:spPr>
      </p:pic>
      <p:sp>
        <p:nvSpPr>
          <p:cNvPr id="5" name="Прямоугольник 4"/>
          <p:cNvSpPr/>
          <p:nvPr/>
        </p:nvSpPr>
        <p:spPr>
          <a:xfrm>
            <a:off x="6444208" y="793393"/>
            <a:ext cx="2281137" cy="369332"/>
          </a:xfrm>
          <a:prstGeom prst="rect">
            <a:avLst/>
          </a:prstGeom>
        </p:spPr>
        <p:txBody>
          <a:bodyPr wrap="none">
            <a:spAutoFit/>
          </a:bodyPr>
          <a:lstStyle/>
          <a:p>
            <a:r>
              <a:rPr lang="en-US" dirty="0"/>
              <a:t>red and black pepper</a:t>
            </a:r>
            <a:endParaRPr lang="ru-RU" dirty="0"/>
          </a:p>
        </p:txBody>
      </p:sp>
      <p:pic>
        <p:nvPicPr>
          <p:cNvPr id="6" name="Рисунок 5"/>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36259" b="86071" l="12337" r="90260"/>
                    </a14:imgEffect>
                  </a14:imgLayer>
                </a14:imgProps>
              </a:ext>
              <a:ext uri="{28A0092B-C50C-407E-A947-70E740481C1C}">
                <a14:useLocalDpi xmlns:a14="http://schemas.microsoft.com/office/drawing/2010/main" val="0"/>
              </a:ext>
            </a:extLst>
          </a:blip>
          <a:srcRect l="2597" t="30032" r="-2597" b="7703"/>
          <a:stretch/>
        </p:blipFill>
        <p:spPr>
          <a:xfrm>
            <a:off x="6732240" y="4215411"/>
            <a:ext cx="2327866" cy="2392459"/>
          </a:xfrm>
          <a:prstGeom prst="rect">
            <a:avLst/>
          </a:prstGeom>
        </p:spPr>
      </p:pic>
      <p:sp>
        <p:nvSpPr>
          <p:cNvPr id="7" name="Прямоугольник 6"/>
          <p:cNvSpPr/>
          <p:nvPr/>
        </p:nvSpPr>
        <p:spPr>
          <a:xfrm>
            <a:off x="7405665" y="6483202"/>
            <a:ext cx="1104405" cy="369332"/>
          </a:xfrm>
          <a:prstGeom prst="rect">
            <a:avLst/>
          </a:prstGeom>
        </p:spPr>
        <p:txBody>
          <a:bodyPr wrap="none">
            <a:spAutoFit/>
          </a:bodyPr>
          <a:lstStyle/>
          <a:p>
            <a:r>
              <a:rPr lang="en-US" dirty="0"/>
              <a:t>soy sauce</a:t>
            </a:r>
            <a:endParaRPr lang="ru-RU" dirty="0"/>
          </a:p>
        </p:txBody>
      </p:sp>
      <p:pic>
        <p:nvPicPr>
          <p:cNvPr id="8" name="Рисунок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27744" y="3605214"/>
            <a:ext cx="2375064" cy="2843386"/>
          </a:xfrm>
          <a:prstGeom prst="rect">
            <a:avLst/>
          </a:prstGeom>
        </p:spPr>
      </p:pic>
      <p:sp>
        <p:nvSpPr>
          <p:cNvPr id="9" name="Прямоугольник 8"/>
          <p:cNvSpPr/>
          <p:nvPr/>
        </p:nvSpPr>
        <p:spPr>
          <a:xfrm>
            <a:off x="4716016" y="6447573"/>
            <a:ext cx="1204112" cy="369332"/>
          </a:xfrm>
          <a:prstGeom prst="rect">
            <a:avLst/>
          </a:prstGeom>
        </p:spPr>
        <p:txBody>
          <a:bodyPr wrap="none">
            <a:spAutoFit/>
          </a:bodyPr>
          <a:lstStyle/>
          <a:p>
            <a:r>
              <a:rPr lang="en-US" dirty="0"/>
              <a:t>sesame oil</a:t>
            </a:r>
            <a:endParaRPr lang="ru-RU" dirty="0"/>
          </a:p>
        </p:txBody>
      </p:sp>
    </p:spTree>
    <p:extLst>
      <p:ext uri="{BB962C8B-B14F-4D97-AF65-F5344CB8AC3E}">
        <p14:creationId xmlns:p14="http://schemas.microsoft.com/office/powerpoint/2010/main" val="1983200268"/>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171400"/>
            <a:ext cx="8229600" cy="1143000"/>
          </a:xfrm>
        </p:spPr>
        <p:txBody>
          <a:bodyPr/>
          <a:lstStyle/>
          <a:p>
            <a:r>
              <a:rPr lang="en-US" dirty="0"/>
              <a:t>Menu</a:t>
            </a:r>
            <a:endParaRPr lang="ru-RU" dirty="0"/>
          </a:p>
        </p:txBody>
      </p:sp>
      <p:sp>
        <p:nvSpPr>
          <p:cNvPr id="3" name="Объект 2"/>
          <p:cNvSpPr>
            <a:spLocks noGrp="1"/>
          </p:cNvSpPr>
          <p:nvPr>
            <p:ph idx="1"/>
          </p:nvPr>
        </p:nvSpPr>
        <p:spPr>
          <a:xfrm>
            <a:off x="179512" y="1196752"/>
            <a:ext cx="4608512" cy="5127848"/>
          </a:xfrm>
        </p:spPr>
        <p:txBody>
          <a:bodyPr>
            <a:normAutofit lnSpcReduction="10000"/>
          </a:bodyPr>
          <a:lstStyle/>
          <a:p>
            <a:pPr marL="0" indent="0">
              <a:buNone/>
            </a:pPr>
            <a:r>
              <a:rPr lang="en-US" dirty="0"/>
              <a:t>Feature Korean menu – a set of snacks to any position: when you order a main dish you will bring 5-6 appetizers (</a:t>
            </a:r>
            <a:r>
              <a:rPr lang="en-US" dirty="0" err="1"/>
              <a:t>panchanan</a:t>
            </a:r>
            <a:r>
              <a:rPr lang="en-US" dirty="0"/>
              <a:t>), a side of rice and a small bowl of soup. All this diversity is included in the price. Snacks can be updated if something is over. Koreans don't eat everything. The Koreans decided to order a lot of food, but try a little from each dish, leaving some of the food on the plates.</a:t>
            </a:r>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8064" y="1116108"/>
            <a:ext cx="3741880" cy="4989173"/>
          </a:xfrm>
          <a:prstGeom prst="rect">
            <a:avLst/>
          </a:prstGeom>
          <a:ln w="6350">
            <a:solidFill>
              <a:schemeClr val="tx1"/>
            </a:solidFill>
          </a:ln>
        </p:spPr>
      </p:pic>
      <p:sp>
        <p:nvSpPr>
          <p:cNvPr id="5" name="Прямоугольник 4"/>
          <p:cNvSpPr/>
          <p:nvPr/>
        </p:nvSpPr>
        <p:spPr>
          <a:xfrm>
            <a:off x="6373442" y="6231576"/>
            <a:ext cx="1291123" cy="369332"/>
          </a:xfrm>
          <a:prstGeom prst="rect">
            <a:avLst/>
          </a:prstGeom>
        </p:spPr>
        <p:txBody>
          <a:bodyPr wrap="none">
            <a:spAutoFit/>
          </a:bodyPr>
          <a:lstStyle/>
          <a:p>
            <a:r>
              <a:rPr lang="en-US" dirty="0"/>
              <a:t>Panchanan</a:t>
            </a:r>
            <a:endParaRPr lang="ru-RU" dirty="0"/>
          </a:p>
        </p:txBody>
      </p:sp>
    </p:spTree>
    <p:extLst>
      <p:ext uri="{BB962C8B-B14F-4D97-AF65-F5344CB8AC3E}">
        <p14:creationId xmlns:p14="http://schemas.microsoft.com/office/powerpoint/2010/main" val="4039501244"/>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315416"/>
            <a:ext cx="8229600" cy="1143000"/>
          </a:xfrm>
        </p:spPr>
        <p:txBody>
          <a:bodyPr/>
          <a:lstStyle/>
          <a:p>
            <a:r>
              <a:rPr lang="en-US" dirty="0"/>
              <a:t>Kimchi</a:t>
            </a:r>
            <a:endParaRPr lang="ru-RU" dirty="0"/>
          </a:p>
        </p:txBody>
      </p:sp>
      <p:sp>
        <p:nvSpPr>
          <p:cNvPr id="3" name="Объект 2"/>
          <p:cNvSpPr>
            <a:spLocks noGrp="1"/>
          </p:cNvSpPr>
          <p:nvPr>
            <p:ph idx="1"/>
          </p:nvPr>
        </p:nvSpPr>
        <p:spPr>
          <a:xfrm>
            <a:off x="323528" y="908720"/>
            <a:ext cx="5040560" cy="5415880"/>
          </a:xfrm>
        </p:spPr>
        <p:txBody>
          <a:bodyPr/>
          <a:lstStyle/>
          <a:p>
            <a:pPr marL="0" indent="0">
              <a:buNone/>
            </a:pPr>
            <a:r>
              <a:rPr lang="en-US" dirty="0"/>
              <a:t>No Korean table can be imagined without kimchi. In recent years, it has increasingly attracted the attention of the world community and is becoming more familiar and consumed dish. The most famous kimchi is sauerkraut in hot red pepper, but in fact there are quite a lot of types of kimchi.</a:t>
            </a:r>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6096" y="1268760"/>
            <a:ext cx="3441645" cy="4437112"/>
          </a:xfrm>
          <a:prstGeom prst="rect">
            <a:avLst/>
          </a:prstGeom>
          <a:ln w="6350">
            <a:solidFill>
              <a:schemeClr val="tx1"/>
            </a:solidFill>
          </a:ln>
        </p:spPr>
      </p:pic>
      <p:sp>
        <p:nvSpPr>
          <p:cNvPr id="5" name="Прямоугольник 4"/>
          <p:cNvSpPr/>
          <p:nvPr/>
        </p:nvSpPr>
        <p:spPr>
          <a:xfrm>
            <a:off x="6703107" y="5955268"/>
            <a:ext cx="907621" cy="369332"/>
          </a:xfrm>
          <a:prstGeom prst="rect">
            <a:avLst/>
          </a:prstGeom>
        </p:spPr>
        <p:txBody>
          <a:bodyPr wrap="none">
            <a:spAutoFit/>
          </a:bodyPr>
          <a:lstStyle/>
          <a:p>
            <a:r>
              <a:rPr lang="en-US" dirty="0"/>
              <a:t>Kimchi</a:t>
            </a:r>
            <a:endParaRPr lang="ru-RU" dirty="0"/>
          </a:p>
        </p:txBody>
      </p:sp>
    </p:spTree>
    <p:extLst>
      <p:ext uri="{BB962C8B-B14F-4D97-AF65-F5344CB8AC3E}">
        <p14:creationId xmlns:p14="http://schemas.microsoft.com/office/powerpoint/2010/main" val="3378505889"/>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0"/>
            <a:ext cx="8229600" cy="1143000"/>
          </a:xfrm>
        </p:spPr>
        <p:txBody>
          <a:bodyPr/>
          <a:lstStyle/>
          <a:p>
            <a:r>
              <a:rPr lang="en-US" dirty="0" err="1"/>
              <a:t>Pibimbap</a:t>
            </a:r>
            <a:endParaRPr lang="ru-RU" dirty="0"/>
          </a:p>
        </p:txBody>
      </p:sp>
      <p:sp>
        <p:nvSpPr>
          <p:cNvPr id="3" name="Объект 2"/>
          <p:cNvSpPr>
            <a:spLocks noGrp="1"/>
          </p:cNvSpPr>
          <p:nvPr>
            <p:ph idx="1"/>
          </p:nvPr>
        </p:nvSpPr>
        <p:spPr>
          <a:xfrm>
            <a:off x="251520" y="1411550"/>
            <a:ext cx="5137226" cy="4913050"/>
          </a:xfrm>
        </p:spPr>
        <p:txBody>
          <a:bodyPr/>
          <a:lstStyle/>
          <a:p>
            <a:pPr marL="0" indent="0">
              <a:buNone/>
            </a:pPr>
            <a:r>
              <a:rPr lang="en-US" dirty="0" err="1"/>
              <a:t>Pibimbap</a:t>
            </a:r>
            <a:r>
              <a:rPr lang="en-US" dirty="0"/>
              <a:t> is a big bowl of rice mixed with vegetables, egg and various herbs (and sometimes kimchi) and added to sauces.</a:t>
            </a:r>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4604" y="908720"/>
            <a:ext cx="3494997" cy="5277445"/>
          </a:xfrm>
          <a:prstGeom prst="rect">
            <a:avLst/>
          </a:prstGeom>
          <a:ln w="6350">
            <a:solidFill>
              <a:schemeClr val="tx1"/>
            </a:solidFill>
          </a:ln>
        </p:spPr>
      </p:pic>
      <p:sp>
        <p:nvSpPr>
          <p:cNvPr id="5" name="Прямоугольник 4"/>
          <p:cNvSpPr/>
          <p:nvPr/>
        </p:nvSpPr>
        <p:spPr>
          <a:xfrm>
            <a:off x="6588224" y="6186165"/>
            <a:ext cx="1148071" cy="369332"/>
          </a:xfrm>
          <a:prstGeom prst="rect">
            <a:avLst/>
          </a:prstGeom>
        </p:spPr>
        <p:txBody>
          <a:bodyPr wrap="none">
            <a:spAutoFit/>
          </a:bodyPr>
          <a:lstStyle/>
          <a:p>
            <a:r>
              <a:rPr lang="en-US" dirty="0" err="1"/>
              <a:t>Pibimbap</a:t>
            </a:r>
            <a:endParaRPr lang="ru-RU" dirty="0"/>
          </a:p>
        </p:txBody>
      </p:sp>
    </p:spTree>
    <p:extLst>
      <p:ext uri="{BB962C8B-B14F-4D97-AF65-F5344CB8AC3E}">
        <p14:creationId xmlns:p14="http://schemas.microsoft.com/office/powerpoint/2010/main" val="1859145571"/>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0870" y="-77147"/>
            <a:ext cx="8229600" cy="1143000"/>
          </a:xfrm>
        </p:spPr>
        <p:txBody>
          <a:bodyPr/>
          <a:lstStyle/>
          <a:p>
            <a:pPr>
              <a:tabLst>
                <a:tab pos="3586163" algn="l"/>
              </a:tabLst>
            </a:pPr>
            <a:r>
              <a:rPr lang="en-US" dirty="0"/>
              <a:t>Kalbi</a:t>
            </a:r>
            <a:endParaRPr lang="ru-RU" dirty="0"/>
          </a:p>
        </p:txBody>
      </p:sp>
      <p:sp>
        <p:nvSpPr>
          <p:cNvPr id="3" name="Объект 2"/>
          <p:cNvSpPr>
            <a:spLocks noGrp="1"/>
          </p:cNvSpPr>
          <p:nvPr>
            <p:ph idx="1"/>
          </p:nvPr>
        </p:nvSpPr>
        <p:spPr>
          <a:xfrm>
            <a:off x="323528" y="1340768"/>
            <a:ext cx="3888432" cy="4317112"/>
          </a:xfrm>
        </p:spPr>
        <p:txBody>
          <a:bodyPr/>
          <a:lstStyle/>
          <a:p>
            <a:pPr marL="0" indent="0">
              <a:buNone/>
            </a:pPr>
            <a:r>
              <a:rPr lang="en-US" dirty="0"/>
              <a:t>Kalbi is one of the most favorite dishes of Koreans, which is prepared from beef (less often-pork). Carefully cut pieces of marinated meat are fried in a sauce and eaten with seasonings.</a:t>
            </a:r>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98" y="620688"/>
            <a:ext cx="4119453" cy="5425004"/>
          </a:xfrm>
          <a:prstGeom prst="rect">
            <a:avLst/>
          </a:prstGeom>
          <a:ln w="6350">
            <a:solidFill>
              <a:schemeClr val="tx1"/>
            </a:solidFill>
          </a:ln>
        </p:spPr>
      </p:pic>
      <p:sp>
        <p:nvSpPr>
          <p:cNvPr id="5" name="Прямоугольник 4"/>
          <p:cNvSpPr/>
          <p:nvPr/>
        </p:nvSpPr>
        <p:spPr>
          <a:xfrm>
            <a:off x="6278903" y="6217840"/>
            <a:ext cx="705642" cy="369332"/>
          </a:xfrm>
          <a:prstGeom prst="rect">
            <a:avLst/>
          </a:prstGeom>
        </p:spPr>
        <p:txBody>
          <a:bodyPr wrap="none">
            <a:spAutoFit/>
          </a:bodyPr>
          <a:lstStyle/>
          <a:p>
            <a:r>
              <a:rPr lang="en-US" dirty="0"/>
              <a:t>Kalbi</a:t>
            </a:r>
            <a:endParaRPr lang="ru-RU" dirty="0"/>
          </a:p>
        </p:txBody>
      </p:sp>
    </p:spTree>
    <p:extLst>
      <p:ext uri="{BB962C8B-B14F-4D97-AF65-F5344CB8AC3E}">
        <p14:creationId xmlns:p14="http://schemas.microsoft.com/office/powerpoint/2010/main" val="2652113534"/>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23528" y="-171400"/>
            <a:ext cx="8229600" cy="1143000"/>
          </a:xfrm>
        </p:spPr>
        <p:txBody>
          <a:bodyPr/>
          <a:lstStyle/>
          <a:p>
            <a:r>
              <a:rPr lang="en-US" dirty="0" err="1"/>
              <a:t>Pulkogi</a:t>
            </a:r>
            <a:endParaRPr lang="ru-RU" dirty="0"/>
          </a:p>
        </p:txBody>
      </p:sp>
      <p:sp>
        <p:nvSpPr>
          <p:cNvPr id="3" name="Объект 2"/>
          <p:cNvSpPr>
            <a:spLocks noGrp="1"/>
          </p:cNvSpPr>
          <p:nvPr>
            <p:ph idx="1"/>
          </p:nvPr>
        </p:nvSpPr>
        <p:spPr>
          <a:xfrm>
            <a:off x="179512" y="1268760"/>
            <a:ext cx="4608512" cy="5055840"/>
          </a:xfrm>
        </p:spPr>
        <p:txBody>
          <a:bodyPr/>
          <a:lstStyle/>
          <a:p>
            <a:pPr marL="0" indent="0">
              <a:buNone/>
            </a:pPr>
            <a:r>
              <a:rPr lang="en-US" dirty="0" err="1"/>
              <a:t>Pulkogi</a:t>
            </a:r>
            <a:r>
              <a:rPr lang="en-US" dirty="0"/>
              <a:t> is sweet meat fried in a sauce and served with various seasonings. Due to its sweet taste of the </a:t>
            </a:r>
            <a:r>
              <a:rPr lang="en-US" dirty="0" err="1"/>
              <a:t>pulgogi</a:t>
            </a:r>
            <a:r>
              <a:rPr lang="en-US" dirty="0"/>
              <a:t> is very fond of children. Cooking it is very simple, so Koreans often make </a:t>
            </a:r>
            <a:r>
              <a:rPr lang="en-US" dirty="0" err="1"/>
              <a:t>pulkogi</a:t>
            </a:r>
            <a:r>
              <a:rPr lang="en-US" dirty="0"/>
              <a:t> at home.</a:t>
            </a:r>
            <a:endParaRPr lang="ru-RU" dirty="0"/>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21437" y="785899"/>
            <a:ext cx="3582144" cy="5373216"/>
          </a:xfrm>
          <a:prstGeom prst="rect">
            <a:avLst/>
          </a:prstGeom>
          <a:ln w="6350">
            <a:solidFill>
              <a:schemeClr val="tx1"/>
            </a:solidFill>
          </a:ln>
        </p:spPr>
      </p:pic>
      <p:sp>
        <p:nvSpPr>
          <p:cNvPr id="5" name="Прямоугольник 4"/>
          <p:cNvSpPr/>
          <p:nvPr/>
        </p:nvSpPr>
        <p:spPr>
          <a:xfrm>
            <a:off x="6516216" y="6159115"/>
            <a:ext cx="941604" cy="369332"/>
          </a:xfrm>
          <a:prstGeom prst="rect">
            <a:avLst/>
          </a:prstGeom>
        </p:spPr>
        <p:txBody>
          <a:bodyPr wrap="none">
            <a:spAutoFit/>
          </a:bodyPr>
          <a:lstStyle/>
          <a:p>
            <a:r>
              <a:rPr lang="en-US" dirty="0" err="1"/>
              <a:t>Pulkogi</a:t>
            </a:r>
            <a:endParaRPr lang="ru-RU" dirty="0"/>
          </a:p>
        </p:txBody>
      </p:sp>
    </p:spTree>
    <p:extLst>
      <p:ext uri="{BB962C8B-B14F-4D97-AF65-F5344CB8AC3E}">
        <p14:creationId xmlns:p14="http://schemas.microsoft.com/office/powerpoint/2010/main" val="4292292548"/>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0"/>
            <a:ext cx="8229600" cy="866360"/>
          </a:xfrm>
        </p:spPr>
        <p:txBody>
          <a:bodyPr>
            <a:normAutofit/>
          </a:bodyPr>
          <a:lstStyle/>
          <a:p>
            <a:pPr algn="ctr"/>
            <a:r>
              <a:rPr lang="en-US" dirty="0"/>
              <a:t>Conclusion</a:t>
            </a:r>
            <a:endParaRPr lang="ru-RU" dirty="0"/>
          </a:p>
        </p:txBody>
      </p:sp>
      <p:sp>
        <p:nvSpPr>
          <p:cNvPr id="3" name="Объект 2"/>
          <p:cNvSpPr>
            <a:spLocks noGrp="1"/>
          </p:cNvSpPr>
          <p:nvPr>
            <p:ph idx="1"/>
          </p:nvPr>
        </p:nvSpPr>
        <p:spPr>
          <a:xfrm>
            <a:off x="467544" y="1052736"/>
            <a:ext cx="8363272" cy="5199856"/>
          </a:xfrm>
        </p:spPr>
        <p:txBody>
          <a:bodyPr/>
          <a:lstStyle/>
          <a:p>
            <a:pPr marL="0" indent="0">
              <a:buNone/>
            </a:pPr>
            <a:r>
              <a:rPr lang="en-US" dirty="0"/>
              <a:t>Korean cuisine is one of the most useful and healthy because it uses products with minimal </a:t>
            </a:r>
            <a:r>
              <a:rPr lang="en-US" dirty="0" err="1"/>
              <a:t>processing.Today</a:t>
            </a:r>
            <a:r>
              <a:rPr lang="en-US" dirty="0"/>
              <a:t> it is becoming more and more popular, Korean restaurants are opening not only in China or Japan, but also in Europe.</a:t>
            </a:r>
            <a:endParaRPr lang="ru-RU" dirty="0"/>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79912" y="3162742"/>
            <a:ext cx="5155561" cy="3417101"/>
          </a:xfrm>
          <a:prstGeom prst="rect">
            <a:avLst/>
          </a:prstGeom>
          <a:ln w="6350">
            <a:solidFill>
              <a:schemeClr val="tx1"/>
            </a:solidFill>
          </a:ln>
        </p:spPr>
      </p:pic>
    </p:spTree>
    <p:extLst>
      <p:ext uri="{BB962C8B-B14F-4D97-AF65-F5344CB8AC3E}">
        <p14:creationId xmlns:p14="http://schemas.microsoft.com/office/powerpoint/2010/main" val="757490924"/>
      </p:ext>
    </p:extLst>
  </p:cSld>
  <p:clrMapOvr>
    <a:masterClrMapping/>
  </p:clrMapOvr>
  <p:transition spd="slow">
    <p:cove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Поток">
  <a:themeElements>
    <a:clrScheme name="Апекс">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Поток">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Поток">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57</TotalTime>
  <Words>429</Words>
  <Application>Microsoft Office PowerPoint</Application>
  <PresentationFormat>Экран (4:3)</PresentationFormat>
  <Paragraphs>25</Paragraphs>
  <Slides>9</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9</vt:i4>
      </vt:variant>
    </vt:vector>
  </HeadingPairs>
  <TitlesOfParts>
    <vt:vector size="13" baseType="lpstr">
      <vt:lpstr>Calibri</vt:lpstr>
      <vt:lpstr>Constantia</vt:lpstr>
      <vt:lpstr>Wingdings 2</vt:lpstr>
      <vt:lpstr>Поток</vt:lpstr>
      <vt:lpstr>The Korean national cuisine</vt:lpstr>
      <vt:lpstr>History</vt:lpstr>
      <vt:lpstr>Difference</vt:lpstr>
      <vt:lpstr>Menu</vt:lpstr>
      <vt:lpstr>Kimchi</vt:lpstr>
      <vt:lpstr>Pibimbap</vt:lpstr>
      <vt:lpstr>Kalbi</vt:lpstr>
      <vt:lpstr>Pulkogi</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Korean national cuisine</dc:title>
  <dc:creator>Katya</dc:creator>
  <cp:lastModifiedBy>сергей супрун</cp:lastModifiedBy>
  <cp:revision>8</cp:revision>
  <dcterms:created xsi:type="dcterms:W3CDTF">2019-02-14T15:31:34Z</dcterms:created>
  <dcterms:modified xsi:type="dcterms:W3CDTF">2023-11-26T21:52:34Z</dcterms:modified>
</cp:coreProperties>
</file>